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4663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453369"/>
            <a:ext cx="4069080" cy="1136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148840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C69A45"/>
                </a:solidFill>
                <a:latin typeface="Aptos"/>
              </a:rPr>
              <a:t>EDITABLE HD BRAND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78608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RichPay Fincorp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64992"/>
            <a:ext cx="8686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Fixed master logo + expanded colour palette + editable branding tools + HD visual mockups.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343400"/>
            <a:ext cx="2194560" cy="36576"/>
          </a:xfrm>
          <a:prstGeom prst="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681728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69A45"/>
                </a:solidFill>
                <a:latin typeface="Aptos"/>
              </a:rPr>
              <a:t>LOGO • COLOUR • SOCIAL • APP • WEBSITE • STATIONERY • SIGNAGE • OUTDOOR • BRAND COLLATERAL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Fixed master 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This deck uses the latest navy + gold RichPay logo exactly as provided in the approved image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109728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942977"/>
            <a:ext cx="7498079" cy="20940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4617720"/>
            <a:ext cx="248716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47731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69A45"/>
                </a:solidFill>
                <a:latin typeface="Aptos"/>
              </a:rPr>
              <a:t>R FOR RICHPAY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5138928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ptos"/>
              </a:rPr>
              <a:t>Strong, bold and ownable brand identity.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4617720"/>
            <a:ext cx="248716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47731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69A45"/>
                </a:solidFill>
                <a:latin typeface="Aptos"/>
              </a:rPr>
              <a:t>GROWTH BARS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5138928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ptos"/>
              </a:rPr>
              <a:t>Progress, financial movement and prosperity.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4617720"/>
            <a:ext cx="248716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47731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69A45"/>
                </a:solidFill>
                <a:latin typeface="Aptos"/>
              </a:rPr>
              <a:t>SUPPORT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5138928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ptos"/>
              </a:rPr>
              <a:t>A helping bridge between today and payday.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4617720"/>
            <a:ext cx="248716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47731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69A45"/>
                </a:solidFill>
                <a:latin typeface="Aptos"/>
              </a:rPr>
              <a:t>TRUST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5138928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Aptos"/>
              </a:rPr>
              <a:t>Navy-led institutional finance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Logo lockups and editable placement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The logo artwork is inserted in high resolution and can be moved, resized and placed across all templates.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57800" cy="2057400"/>
          </a:xfrm>
          <a:prstGeom prst="roundRect">
            <a:avLst/>
          </a:prstGeom>
          <a:solidFill>
            <a:srgbClr val="F8F7F4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58815"/>
            <a:ext cx="4434840" cy="12385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6208" y="1828800"/>
            <a:ext cx="5257800" cy="205740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29400" y="2240280"/>
            <a:ext cx="4526280" cy="1216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48147"/>
            <a:ext cx="4069080" cy="11364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041648"/>
            <a:ext cx="5257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C69A45"/>
                </a:solidFill>
                <a:latin typeface="Aptos"/>
              </a:rPr>
              <a:t>PRIMARY ON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4041648"/>
            <a:ext cx="5257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C69A45"/>
                </a:solidFill>
                <a:latin typeface="Aptos"/>
              </a:rPr>
              <a:t>CONTROLLED USE ON DARK</a:t>
            </a:r>
          </a:p>
        </p:txBody>
      </p:sp>
      <p:pic>
        <p:nvPicPr>
          <p:cNvPr id="13" name="Picture 12" descr="richpay_logo_variations.png"/>
          <p:cNvPicPr>
            <a:picLocks noChangeAspect="1"/>
          </p:cNvPicPr>
          <p:nvPr/>
        </p:nvPicPr>
        <p:blipFill>
          <a:blip r:embed="rId3"/>
          <a:srcRect l="1" t="8591" r="-1714"/>
          <a:stretch>
            <a:fillRect/>
          </a:stretch>
        </p:blipFill>
        <p:spPr>
          <a:xfrm>
            <a:off x="803024" y="4228027"/>
            <a:ext cx="10866367" cy="1876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Colour palette: Primary + optional digital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Navy + gold remains the master identity. Blue + green is added as a secondary social/digital palette.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487168" cy="914400"/>
          </a:xfrm>
          <a:prstGeom prst="roundRect">
            <a:avLst/>
          </a:prstGeom>
          <a:solidFill>
            <a:srgbClr val="071F3D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011679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Deep Navy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3172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#071F3D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6032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ptos"/>
              </a:rPr>
              <a:t>Master brand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874519"/>
            <a:ext cx="2487168" cy="914400"/>
          </a:xfrm>
          <a:prstGeom prst="roundRect">
            <a:avLst/>
          </a:prstGeom>
          <a:solidFill>
            <a:srgbClr val="C69A45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79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71F3D"/>
                </a:solidFill>
                <a:latin typeface="Aptos"/>
              </a:rPr>
              <a:t>Warm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071F3D"/>
                </a:solidFill>
                <a:latin typeface="Aptos"/>
              </a:rPr>
              <a:t>#C69A45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071F3D"/>
                </a:solidFill>
                <a:latin typeface="Aptos"/>
              </a:rPr>
              <a:t>Premium accent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874519"/>
            <a:ext cx="2487168" cy="914400"/>
          </a:xfrm>
          <a:prstGeom prst="roundRect">
            <a:avLst/>
          </a:prstGeom>
          <a:solidFill>
            <a:srgbClr val="E8C27A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011679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71F3D"/>
                </a:solidFill>
                <a:latin typeface="Aptos"/>
              </a:rPr>
              <a:t>Light 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3172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071F3D"/>
                </a:solidFill>
                <a:latin typeface="Aptos"/>
              </a:rPr>
              <a:t>#E8C27A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56032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071F3D"/>
                </a:solidFill>
                <a:latin typeface="Aptos"/>
              </a:rPr>
              <a:t>Soft accent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1874519"/>
            <a:ext cx="2487168" cy="914400"/>
          </a:xfrm>
          <a:prstGeom prst="roundRect">
            <a:avLst/>
          </a:prstGeom>
          <a:solidFill>
            <a:srgbClr val="333333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4584" y="2011679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Charcoal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33172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#333333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56032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ptos"/>
              </a:rPr>
              <a:t>Copy / 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94760"/>
            <a:ext cx="2487168" cy="914400"/>
          </a:xfrm>
          <a:prstGeom prst="roundRect">
            <a:avLst/>
          </a:prstGeom>
          <a:solidFill>
            <a:srgbClr val="2560EB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93192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Royal 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2519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#2560EB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48056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ptos"/>
              </a:rPr>
              <a:t>Optional digital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2152" y="3794760"/>
            <a:ext cx="2487168" cy="914400"/>
          </a:xfrm>
          <a:prstGeom prst="roundRect">
            <a:avLst/>
          </a:prstGeom>
          <a:solidFill>
            <a:srgbClr val="38BDF8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80" y="393192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71F3D"/>
                </a:solidFill>
                <a:latin typeface="Aptos"/>
              </a:rPr>
              <a:t>Sky Blue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2519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071F3D"/>
                </a:solidFill>
                <a:latin typeface="Aptos"/>
              </a:rPr>
              <a:t>#38BDF8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48056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071F3D"/>
                </a:solidFill>
                <a:latin typeface="Aptos"/>
              </a:rPr>
              <a:t>Optional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8504" y="3794760"/>
            <a:ext cx="2487168" cy="914400"/>
          </a:xfrm>
          <a:prstGeom prst="roundRect">
            <a:avLst/>
          </a:prstGeom>
          <a:solidFill>
            <a:srgbClr val="16A34A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2" y="393192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Finance Green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2519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#16A34A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48056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ptos"/>
              </a:rPr>
              <a:t>Optional growth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34856" y="3794760"/>
            <a:ext cx="2487168" cy="914400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44584" y="393192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71F3D"/>
                </a:solidFill>
                <a:latin typeface="Aptos"/>
              </a:rPr>
              <a:t>Mint Green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42519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071F3D"/>
                </a:solidFill>
                <a:latin typeface="Aptos"/>
              </a:rPr>
              <a:t>#22C55E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4480560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071F3D"/>
                </a:solidFill>
                <a:latin typeface="Aptos"/>
              </a:rPr>
              <a:t>Optional social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7044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71F3D"/>
                </a:solidFill>
                <a:latin typeface="Aptos"/>
              </a:rPr>
              <a:t>Usage: Use navy/gold for main brand recognition. Use blue/green only for Instagram, campaign variations, charts, highlights, UI states and digital accents.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Typography and brand tonality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A modern NBFC should sound reassuring, simple and premium — not loud or desperate.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69A45"/>
                </a:solidFill>
                <a:latin typeface="Aptos"/>
              </a:rPr>
              <a:t>PRIMARY FONT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71F3D"/>
                </a:solidFill>
                <a:latin typeface="Aptos"/>
              </a:rPr>
              <a:t>APTOS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30352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71F3D"/>
                </a:solidFill>
                <a:latin typeface="Aptos"/>
              </a:rPr>
              <a:t>Your Salary is Coming.
We Can Help You
Bridge the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69A45"/>
                </a:solidFill>
                <a:latin typeface="Aptos"/>
              </a:rPr>
              <a:t>BODY FONT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76272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71F3D"/>
                </a:solidFill>
                <a:latin typeface="Aptos"/>
              </a:rPr>
              <a:t>APTOS / CLEAN SANS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4846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Aptos"/>
              </a:rPr>
              <a:t>Use short, transparent, low-pressure copy. RichPay should feel like a responsible financial bridge for salaried professionals.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434840"/>
            <a:ext cx="1170432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43484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Helpful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434840"/>
            <a:ext cx="1170432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443484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Transparent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4434840"/>
            <a:ext cx="1170432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443484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Responsible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029200"/>
            <a:ext cx="1170432" cy="384048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502920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5029200"/>
            <a:ext cx="1170432" cy="384048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502920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Human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Editable Instagram profile + 3×3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Profile, highlights and posts are built as editable PPT objects with the correct logo inserted.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70332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19"/>
            <a:ext cx="2011680" cy="5618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46888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71F3D"/>
                </a:solidFill>
                <a:latin typeface="Aptos"/>
              </a:rPr>
              <a:t>richpay_fincorp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333333"/>
                </a:solidFill>
                <a:latin typeface="Aptos"/>
              </a:rPr>
              <a:t>128 Posts      18.7K Followers      96 Following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971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 err="1">
                <a:solidFill>
                  <a:srgbClr val="333333"/>
                </a:solidFill>
                <a:latin typeface="Aptos"/>
              </a:rPr>
              <a:t>RichPay</a:t>
            </a:r>
            <a:r>
              <a:rPr sz="850" b="0" dirty="0">
                <a:solidFill>
                  <a:srgbClr val="333333"/>
                </a:solidFill>
                <a:latin typeface="Aptos"/>
              </a:rPr>
              <a:t> Fincorp
Emergency financial bridge for salaried professionals.
Apply responsibly.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77639"/>
            <a:ext cx="475488" cy="475488"/>
          </a:xfrm>
          <a:prstGeom prst="ellipse">
            <a:avLst/>
          </a:prstGeom>
          <a:solidFill>
            <a:srgbClr val="071F3D"/>
          </a:solidFill>
          <a:ln>
            <a:solidFill>
              <a:srgbClr val="C6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4480560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About</a:t>
            </a:r>
          </a:p>
        </p:txBody>
      </p:sp>
      <p:sp>
        <p:nvSpPr>
          <p:cNvPr id="13" name="Oval 12"/>
          <p:cNvSpPr/>
          <p:nvPr/>
        </p:nvSpPr>
        <p:spPr>
          <a:xfrm>
            <a:off x="1627632" y="3977639"/>
            <a:ext cx="475488" cy="475488"/>
          </a:xfrm>
          <a:prstGeom prst="ellipse">
            <a:avLst/>
          </a:prstGeom>
          <a:solidFill>
            <a:srgbClr val="071F3D"/>
          </a:solidFill>
          <a:ln>
            <a:solidFill>
              <a:srgbClr val="C6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9616" y="4480560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Loans</a:t>
            </a:r>
          </a:p>
        </p:txBody>
      </p:sp>
      <p:sp>
        <p:nvSpPr>
          <p:cNvPr id="15" name="Oval 14"/>
          <p:cNvSpPr/>
          <p:nvPr/>
        </p:nvSpPr>
        <p:spPr>
          <a:xfrm>
            <a:off x="2340864" y="3977639"/>
            <a:ext cx="475488" cy="475488"/>
          </a:xfrm>
          <a:prstGeom prst="ellipse">
            <a:avLst/>
          </a:prstGeom>
          <a:solidFill>
            <a:srgbClr val="071F3D"/>
          </a:solidFill>
          <a:ln>
            <a:solidFill>
              <a:srgbClr val="C6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12848" y="4480560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FAQs</a:t>
            </a:r>
          </a:p>
        </p:txBody>
      </p:sp>
      <p:sp>
        <p:nvSpPr>
          <p:cNvPr id="17" name="Oval 16"/>
          <p:cNvSpPr/>
          <p:nvPr/>
        </p:nvSpPr>
        <p:spPr>
          <a:xfrm>
            <a:off x="3054096" y="3977639"/>
            <a:ext cx="475488" cy="475488"/>
          </a:xfrm>
          <a:prstGeom prst="ellipse">
            <a:avLst/>
          </a:prstGeom>
          <a:solidFill>
            <a:srgbClr val="071F3D"/>
          </a:solidFill>
          <a:ln>
            <a:solidFill>
              <a:srgbClr val="C6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79" y="4480560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Trust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1828800"/>
            <a:ext cx="1874519" cy="1298448"/>
          </a:xfrm>
          <a:prstGeom prst="rect">
            <a:avLst/>
          </a:prstGeom>
          <a:solidFill>
            <a:srgbClr val="071F3D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28616" y="2084832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SALARY
BRIDGE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828800"/>
            <a:ext cx="1874519" cy="1298448"/>
          </a:xfrm>
          <a:prstGeom prst="rect">
            <a:avLst/>
          </a:prstGeom>
          <a:solidFill>
            <a:srgbClr val="C69A45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86016" y="2084832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1F3D"/>
                </a:solidFill>
                <a:latin typeface="Aptos"/>
              </a:rPr>
              <a:t>EMERGENCY
LOAN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1828800"/>
            <a:ext cx="1874519" cy="1298448"/>
          </a:xfrm>
          <a:prstGeom prst="rect">
            <a:avLst/>
          </a:prstGeom>
          <a:solidFill>
            <a:srgbClr val="2560EB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43416" y="2084832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QUICK
APPROVAL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273552"/>
            <a:ext cx="1874519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28616" y="3529584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1F3D"/>
                </a:solidFill>
                <a:latin typeface="Aptos"/>
              </a:rPr>
              <a:t>HOW IT
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273552"/>
            <a:ext cx="1874519" cy="1298448"/>
          </a:xfrm>
          <a:prstGeom prst="rect">
            <a:avLst/>
          </a:prstGeom>
          <a:solidFill>
            <a:srgbClr val="16A34A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86016" y="3529584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TRUSTED
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3273552"/>
            <a:ext cx="1874519" cy="1298448"/>
          </a:xfrm>
          <a:prstGeom prst="rect">
            <a:avLst/>
          </a:prstGeom>
          <a:solidFill>
            <a:srgbClr val="071F3D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43416" y="3529584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FLEXIBLE
TENURE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4718304"/>
            <a:ext cx="1874519" cy="1298448"/>
          </a:xfrm>
          <a:prstGeom prst="rect">
            <a:avLst/>
          </a:prstGeom>
          <a:solidFill>
            <a:srgbClr val="C69A45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28616" y="4974336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1F3D"/>
                </a:solidFill>
                <a:latin typeface="Aptos"/>
              </a:rPr>
              <a:t>FAQ
FRIDAY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718304"/>
            <a:ext cx="1874519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86016" y="4974336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1F3D"/>
                </a:solidFill>
                <a:latin typeface="Aptos"/>
              </a:rPr>
              <a:t>CLEAR
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4718304"/>
            <a:ext cx="1874519" cy="1298448"/>
          </a:xfrm>
          <a:prstGeom prst="rect">
            <a:avLst/>
          </a:prstGeom>
          <a:solidFill>
            <a:srgbClr val="071F3D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43416" y="4974336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APPLY
ONLINE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HD Instagram visual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High-resolution visual reference for the actual social-media look.</a:t>
            </a:r>
          </a:p>
        </p:txBody>
      </p:sp>
      <p:pic>
        <p:nvPicPr>
          <p:cNvPr id="6" name="Picture 5" descr="RichPay_Instagram_Profile_Grid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10744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Editable website homepage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Editable wireframe using the fixed logo and RichPay brand colours.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088136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1920240" cy="5362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15968" y="1975104"/>
            <a:ext cx="868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088" y="1975104"/>
            <a:ext cx="868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About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75104"/>
            <a:ext cx="868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Our Loans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1975104"/>
            <a:ext cx="868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975104"/>
            <a:ext cx="868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Why RichPay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6567" y="1975104"/>
            <a:ext cx="868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71F3D"/>
                </a:solidFill>
                <a:latin typeface="Aptos"/>
              </a:rPr>
              <a:t>Contact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78440" y="1847088"/>
            <a:ext cx="868680" cy="384048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78440" y="1847088"/>
            <a:ext cx="868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Apply 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432304"/>
            <a:ext cx="10515600" cy="1874519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269748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EMERGENCY FUNDS, WHEN YOU NEED THEM MOST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35808"/>
            <a:ext cx="5669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Your Salary is Coming.
We Can Help You Bridge the Gap.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913632"/>
            <a:ext cx="1078992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913632"/>
            <a:ext cx="10789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Apply 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3913632"/>
            <a:ext cx="1234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31720" y="3913632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63440"/>
            <a:ext cx="23317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818888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71F3D"/>
                </a:solidFill>
                <a:latin typeface="Aptos"/>
              </a:rPr>
              <a:t>Quick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02352"/>
            <a:ext cx="19202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ptos"/>
              </a:rPr>
              <a:t>Minimal documents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4663440"/>
            <a:ext cx="23317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0168" y="4818888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71F3D"/>
                </a:solidFill>
                <a:latin typeface="Aptos"/>
              </a:rPr>
              <a:t>Short Tenure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5102352"/>
            <a:ext cx="19202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ptos"/>
              </a:rPr>
              <a:t>Until payday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1616" y="4663440"/>
            <a:ext cx="23317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8776" y="4818888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71F3D"/>
                </a:solidFill>
                <a:latin typeface="Aptos"/>
              </a:rPr>
              <a:t>Secure &amp; Trusted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5102352"/>
            <a:ext cx="19202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ptos"/>
              </a:rPr>
              <a:t>Privacy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0224" y="4663440"/>
            <a:ext cx="23317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87384" y="4818888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71F3D"/>
                </a:solidFill>
                <a:latin typeface="Aptos"/>
              </a:rPr>
              <a:t>For Salaried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5102352"/>
            <a:ext cx="19202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ptos"/>
              </a:rPr>
              <a:t>Designed for you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HD website look and feel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High-resolution visual reference for the brand-led website experience.</a:t>
            </a:r>
          </a:p>
        </p:txBody>
      </p:sp>
      <p:pic>
        <p:nvPicPr>
          <p:cNvPr id="6" name="Picture 5" descr="RichPay_Website_Concept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10744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Editable app icon + mobile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Native editable app UI concept plus inserted fixed logo.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508760" cy="150876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chpay_ico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057400"/>
            <a:ext cx="1005840" cy="971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511296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C69A45"/>
                </a:solidFill>
                <a:latin typeface="Aptos"/>
              </a:rPr>
              <a:t>APP ICON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828800"/>
            <a:ext cx="2148840" cy="434340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ichpay_logo_main_transparent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029968"/>
            <a:ext cx="1280160" cy="3575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17520" y="2697480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69A45"/>
                </a:solidFill>
                <a:latin typeface="Aptos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6324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Welcome Back!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822191"/>
            <a:ext cx="1691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17520" y="4480560"/>
            <a:ext cx="1691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17520" y="5285232"/>
            <a:ext cx="1691640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528523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Continue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828800"/>
            <a:ext cx="2148840" cy="434340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richpay_logo_main_transparent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029968"/>
            <a:ext cx="1280160" cy="3575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60720" y="2697480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69A45"/>
                </a:solidFill>
                <a:latin typeface="Aptos"/>
              </a:rPr>
              <a:t>ELIGIBILITY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06324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₹50,000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3822191"/>
            <a:ext cx="1691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60720" y="4480560"/>
            <a:ext cx="1691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60720" y="5285232"/>
            <a:ext cx="1691640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528523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Continue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828800"/>
            <a:ext cx="2148840" cy="434340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richpay_logo_main_transparent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29968"/>
            <a:ext cx="1280160" cy="3575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03920" y="2697480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69A45"/>
                </a:solidFill>
                <a:latin typeface="Aptos"/>
              </a:rPr>
              <a:t>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6324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Repayment Plan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3822191"/>
            <a:ext cx="1691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03920" y="4480560"/>
            <a:ext cx="1691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503920" y="5285232"/>
            <a:ext cx="1691640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528523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Continue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HD app visual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High-resolution app identity and UI reference.</a:t>
            </a:r>
          </a:p>
        </p:txBody>
      </p:sp>
      <p:pic>
        <p:nvPicPr>
          <p:cNvPr id="6" name="Picture 5" descr="RichPay_App_Concept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10744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Editable stationery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Visiting card, notebook, pen, letterhead, envelope and employee ID templates.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92024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5" y="2112512"/>
            <a:ext cx="1920240" cy="5362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92608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69A45"/>
                </a:solidFill>
                <a:latin typeface="Aptos"/>
              </a:rPr>
              <a:t>YOUR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72968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Designation
+91 98XX XXX XXX
name@richpay.example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2057400" cy="288036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51760"/>
            <a:ext cx="1444752" cy="4034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60" y="4892040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148840"/>
            <a:ext cx="3383280" cy="256032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75520" y="2148840"/>
            <a:ext cx="411480" cy="256032"/>
          </a:xfrm>
          <a:prstGeom prst="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214884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RICHPAY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633472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PEN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3246120"/>
            <a:ext cx="1828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401568"/>
            <a:ext cx="1234440" cy="34475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086600" y="4069080"/>
            <a:ext cx="1417320" cy="18288"/>
          </a:xfrm>
          <a:prstGeom prst="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4224528"/>
            <a:ext cx="14173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tos"/>
              </a:rPr>
              <a:t>Date:
To:
Subject:
Editable letterhead body copy.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46120"/>
            <a:ext cx="192024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3246120"/>
            <a:ext cx="1920240" cy="475488"/>
          </a:xfrm>
          <a:prstGeom prst="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333756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RICHPAY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06908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71F3D"/>
                </a:solidFill>
                <a:latin typeface="Aptos"/>
              </a:rPr>
              <a:t>EMPLOYEE ID
NAME
ROLE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HD stationery and brand collateral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High-resolution visual reference for visiting cards, notebook, pen, letterhead and ID collateral.</a:t>
            </a:r>
          </a:p>
        </p:txBody>
      </p:sp>
      <p:pic>
        <p:nvPicPr>
          <p:cNvPr id="6" name="Picture 5" descr="RichPay_Stationery_Kit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10744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Editable office board and building signage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Editable signboard layouts showing logo placement on office boards and branch fascia.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57800" cy="1828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34440" y="2212848"/>
            <a:ext cx="416052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145586"/>
            <a:ext cx="3657600" cy="10214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822191"/>
            <a:ext cx="5257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69A45"/>
                </a:solidFill>
                <a:latin typeface="Aptos"/>
              </a:rPr>
              <a:t>OFFICE BOARD ON BUILDING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57800" cy="1828800"/>
          </a:xfrm>
          <a:prstGeom prst="roundRect">
            <a:avLst/>
          </a:prstGeom>
          <a:solidFill>
            <a:srgbClr val="F8F7F4"/>
          </a:solidFill>
          <a:ln w="9525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0" y="2148840"/>
            <a:ext cx="4526280" cy="77724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12280" y="2267712"/>
            <a:ext cx="4069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890" y="2184500"/>
            <a:ext cx="1923019" cy="5370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3822191"/>
            <a:ext cx="5257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69A45"/>
                </a:solidFill>
                <a:latin typeface="Aptos"/>
              </a:rPr>
              <a:t>BRANCH ENTRANCE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89120"/>
            <a:ext cx="10789920" cy="114300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794760" y="4645152"/>
            <a:ext cx="45720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980" y="4645152"/>
            <a:ext cx="2017240" cy="5633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571500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71F3D"/>
                </a:solidFill>
                <a:latin typeface="Aptos"/>
              </a:rPr>
              <a:t>RECEPTION / OFFICE WALL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HD building, entrance and branch mockups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High-resolution visual reference for physical brand presence.</a:t>
            </a:r>
          </a:p>
        </p:txBody>
      </p:sp>
      <p:pic>
        <p:nvPicPr>
          <p:cNvPr id="6" name="Picture 5" descr="RichPay_Building_Branch_Signage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10744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Editable marketing and outdoor advertising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Banner, hoarding and bus-stop layouts with editable copy, CTAs and logo placement.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892040" cy="242316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29968"/>
            <a:ext cx="21031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1317"/>
            <a:ext cx="1737360" cy="4852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1832" y="2788920"/>
            <a:ext cx="437997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Your Salary is Coming.
Bridge the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3593592"/>
            <a:ext cx="1143000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593592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Apply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16552"/>
            <a:ext cx="4892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HOARDING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828800"/>
            <a:ext cx="2057400" cy="352044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35040" y="2029968"/>
            <a:ext cx="1600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78077"/>
            <a:ext cx="1463040" cy="4085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62472" y="2788920"/>
            <a:ext cx="154533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Your Salary is Coming.
Bridge the Gap.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2472" y="4690872"/>
            <a:ext cx="1143000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62472" y="4690872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Apply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5513831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STREET BANNER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3246120" cy="3520440"/>
          </a:xfrm>
          <a:prstGeom prst="round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66760" y="2029968"/>
            <a:ext cx="21031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071" y="2011103"/>
            <a:ext cx="1737360" cy="4852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94192" y="2788920"/>
            <a:ext cx="27340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Your Salary is Coming.
Bridge the Gap.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4690872"/>
            <a:ext cx="1143000" cy="384048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4690872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Apply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5513831"/>
            <a:ext cx="3246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F3D"/>
                </a:solidFill>
                <a:latin typeface="Aptos"/>
              </a:rPr>
              <a:t>BUS STOP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HD advertising visual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High-resolution banner, billboard and street advertising reference.</a:t>
            </a:r>
          </a:p>
        </p:txBody>
      </p:sp>
      <p:pic>
        <p:nvPicPr>
          <p:cNvPr id="6" name="Picture 5" descr="RichPay_Outdoor_Advertising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10744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HD photography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Use real salaried professionals, authentic office/home situations and aspirational but believable visuals.</a:t>
            </a:r>
          </a:p>
        </p:txBody>
      </p:sp>
      <p:pic>
        <p:nvPicPr>
          <p:cNvPr id="6" name="Picture 5" descr="RichPay_Photography_Style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10744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HD product and customer collateral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Card, welcome kit and customer-facing collateral visual reference.</a:t>
            </a:r>
          </a:p>
        </p:txBody>
      </p:sp>
      <p:pic>
        <p:nvPicPr>
          <p:cNvPr id="6" name="Picture 5" descr="RichPay_Product_Applications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10744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71F3D"/>
                </a:solidFill>
                <a:latin typeface="Aptos"/>
              </a:rPr>
              <a:t>Complete 360° HD brand application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Single reference board showing logo, social, app, web, stationery, signage, ads and collateral.</a:t>
            </a:r>
          </a:p>
        </p:txBody>
      </p:sp>
      <p:pic>
        <p:nvPicPr>
          <p:cNvPr id="6" name="Picture 5" descr="RichPay_Brand_Applications_U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110642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69A45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Brand usage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4983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8424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69A45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84248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1F3D"/>
                </a:solidFill>
                <a:latin typeface="Aptos"/>
              </a:rPr>
              <a:t>Use the fixed navy + gold master logo as the official identity.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4983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98424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69A45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84248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1F3D"/>
                </a:solidFill>
                <a:latin typeface="Aptos"/>
              </a:rPr>
              <a:t>Use blue + green only as optional digital, Instagram, UI and campaign accents.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17520"/>
            <a:ext cx="4983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312724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69A45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27248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1F3D"/>
                </a:solidFill>
                <a:latin typeface="Aptos"/>
              </a:rPr>
              <a:t>Do not integrate the Indian rupee symbol into the logo.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17520"/>
            <a:ext cx="4983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312724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69A45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127248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1F3D"/>
                </a:solidFill>
                <a:latin typeface="Aptos"/>
              </a:rPr>
              <a:t>Keep gold limited and premium — do not overuse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4983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27024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69A45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70248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1F3D"/>
                </a:solidFill>
                <a:latin typeface="Aptos"/>
              </a:rPr>
              <a:t>Keep financial communication clear, transparent and responsible.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60520"/>
            <a:ext cx="4983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427024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69A45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270248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1F3D"/>
                </a:solidFill>
                <a:latin typeface="Aptos"/>
              </a:rPr>
              <a:t>Use the HD mockups as visual references and editable slides for layout adaptation.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86200" y="1234440"/>
            <a:ext cx="443484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ichpay_logo_main_transparent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0" y="1045752"/>
            <a:ext cx="3931920" cy="1098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35808"/>
            <a:ext cx="10360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EDITABLE HD BRAND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752"/>
            <a:ext cx="103601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69A45"/>
                </a:solidFill>
                <a:latin typeface="Aptos"/>
              </a:rPr>
              <a:t>Correct logo • Primary navy/gold palette • Secondary blue/green palette • Editable tools • HD visual mockups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919</Words>
  <Application>Microsoft Macintosh PowerPoint</Application>
  <PresentationFormat>Widescreen</PresentationFormat>
  <Paragraphs>188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Uppal</cp:lastModifiedBy>
  <cp:revision>2</cp:revision>
  <dcterms:created xsi:type="dcterms:W3CDTF">2013-01-27T09:14:16Z</dcterms:created>
  <dcterms:modified xsi:type="dcterms:W3CDTF">2026-08-12T18:53:09Z</dcterms:modified>
  <cp:category/>
</cp:coreProperties>
</file>